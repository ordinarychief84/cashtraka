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B8E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8BD91E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CashTraka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who paid. Know who owes. Collect everything.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474720" y="3383280"/>
            <a:ext cx="2194560" cy="36576"/>
          </a:xfrm>
          <a:prstGeom prst="rect">
            <a:avLst/>
          </a:prstGeom>
          <a:solidFill>
            <a:srgbClr val="00B8E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 | 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8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320040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Nigerian SMBs lose millions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poor debt tracking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274320" y="2103120"/>
            <a:ext cx="2560320" cy="2377440"/>
          </a:xfrm>
          <a:prstGeom prst="rect">
            <a:avLst/>
          </a:prstGeom>
          <a:solidFill>
            <a:srgbClr val="F7F9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21031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774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Books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1148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40M+ businesses still track money in notebooks. Records get lost, damaged, or disputed.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2103120"/>
            <a:ext cx="2560320" cy="2377440"/>
          </a:xfrm>
          <a:prstGeom prst="rect">
            <a:avLst/>
          </a:prstGeom>
          <a:solidFill>
            <a:srgbClr val="F7F9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21031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3774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3756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Collection System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33756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forget who owes what. Debts go uncollected for months. Cash flow dries up.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26480" y="2103120"/>
            <a:ext cx="2560320" cy="2377440"/>
          </a:xfrm>
          <a:prstGeom prst="rect">
            <a:avLst/>
          </a:prstGeom>
          <a:solidFill>
            <a:srgbClr val="F7F9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26480" y="21031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37744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6364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Disputes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26364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receipts or records means endless arguments about who paid and how much.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00B8E8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320040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platform to track payments,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chase debts, and collect everything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3931920" cy="118872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965960"/>
            <a:ext cx="54864" cy="1188720"/>
          </a:xfrm>
          <a:prstGeom prst="rect">
            <a:avLst/>
          </a:prstGeom>
          <a:solidFill>
            <a:srgbClr val="00B8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031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Payments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88720" y="24048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Cash, transfer, card, POS — log every naira in seconds. Auto-receipt generation.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1965960"/>
            <a:ext cx="3931920" cy="118872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1965960"/>
            <a:ext cx="54864" cy="1188720"/>
          </a:xfrm>
          <a:prstGeom prst="rect">
            <a:avLst/>
          </a:prstGeom>
          <a:solidFill>
            <a:srgbClr val="00B8E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1031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Debt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486400" y="24048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balances. Behaviour tags. Know exactly who owes what and for how long.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383280"/>
            <a:ext cx="3931920" cy="118872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57200" y="3383280"/>
            <a:ext cx="54864" cy="1188720"/>
          </a:xfrm>
          <a:prstGeom prst="rect">
            <a:avLst/>
          </a:prstGeom>
          <a:solidFill>
            <a:srgbClr val="00B8E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204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Auto-Collect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188720" y="382219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reminders, PayLinks for online payment, and Promises to Pay — get your money.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754880" y="3383280"/>
            <a:ext cx="3931920" cy="118872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54880" y="3383280"/>
            <a:ext cx="54864" cy="1188720"/>
          </a:xfrm>
          <a:prstGeom prst="rect">
            <a:avLst/>
          </a:prstGeom>
          <a:solidFill>
            <a:srgbClr val="00B8E8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52044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Everything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486400" y="382219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with P&amp;L, collection score, customer insights, and smart suggestions.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D9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320040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steps to total cash control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60120" y="1508760"/>
            <a:ext cx="594360" cy="594360"/>
          </a:xfrm>
          <a:prstGeom prst="ellipse">
            <a:avLst/>
          </a:prstGeom>
          <a:solidFill>
            <a:srgbClr val="00B8E8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645920" y="1801368"/>
            <a:ext cx="15087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320040" y="2423160"/>
            <a:ext cx="1920240" cy="2194560"/>
          </a:xfrm>
          <a:prstGeom prst="rect">
            <a:avLst/>
          </a:prstGeom>
          <a:solidFill>
            <a:srgbClr val="F7F9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2423160"/>
            <a:ext cx="1920240" cy="45720"/>
          </a:xfrm>
          <a:prstGeom prst="rect">
            <a:avLst/>
          </a:prstGeom>
          <a:solidFill>
            <a:srgbClr val="00B8E8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0175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business in 60 seconds. Free tier gets you started immediately.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54680" y="1508760"/>
            <a:ext cx="594360" cy="594360"/>
          </a:xfrm>
          <a:prstGeom prst="ellipse">
            <a:avLst/>
          </a:prstGeom>
          <a:solidFill>
            <a:srgbClr val="8BD91E"/>
          </a:solidFill>
          <a:ln/>
        </p:spPr>
      </p:sp>
      <p:sp>
        <p:nvSpPr>
          <p:cNvPr id="14" name="Text 11"/>
          <p:cNvSpPr/>
          <p:nvPr/>
        </p:nvSpPr>
        <p:spPr>
          <a:xfrm>
            <a:off x="315468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840480" y="1801368"/>
            <a:ext cx="15087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2514600" y="2423160"/>
            <a:ext cx="1920240" cy="2194560"/>
          </a:xfrm>
          <a:prstGeom prst="rect">
            <a:avLst/>
          </a:prstGeom>
          <a:solidFill>
            <a:srgbClr val="F7F9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14600" y="2423160"/>
            <a:ext cx="1920240" cy="45720"/>
          </a:xfrm>
          <a:prstGeom prst="rect">
            <a:avLst/>
          </a:prstGeom>
          <a:solidFill>
            <a:srgbClr val="8BD91E"/>
          </a:solidFill>
          <a:ln/>
        </p:spPr>
      </p:sp>
      <p:sp>
        <p:nvSpPr>
          <p:cNvPr id="18" name="Text 15"/>
          <p:cNvSpPr/>
          <p:nvPr/>
        </p:nvSpPr>
        <p:spPr>
          <a:xfrm>
            <a:off x="265176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651760" y="30175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payments and debts as they happen. Mobile-first design for on-the-go.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49240" y="1508760"/>
            <a:ext cx="594360" cy="594360"/>
          </a:xfrm>
          <a:prstGeom prst="ellipse">
            <a:avLst/>
          </a:prstGeom>
          <a:solidFill>
            <a:srgbClr val="0076A0"/>
          </a:solidFill>
          <a:ln/>
        </p:spPr>
      </p:sp>
      <p:sp>
        <p:nvSpPr>
          <p:cNvPr id="21" name="Text 18"/>
          <p:cNvSpPr/>
          <p:nvPr/>
        </p:nvSpPr>
        <p:spPr>
          <a:xfrm>
            <a:off x="53492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035040" y="1801368"/>
            <a:ext cx="15087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4709160" y="2423160"/>
            <a:ext cx="1920240" cy="2194560"/>
          </a:xfrm>
          <a:prstGeom prst="rect">
            <a:avLst/>
          </a:prstGeom>
          <a:solidFill>
            <a:srgbClr val="F7F9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2423160"/>
            <a:ext cx="1920240" cy="45720"/>
          </a:xfrm>
          <a:prstGeom prst="rect">
            <a:avLst/>
          </a:prstGeom>
          <a:solidFill>
            <a:srgbClr val="0076A0"/>
          </a:solidFill>
          <a:ln/>
        </p:spPr>
      </p:sp>
      <p:sp>
        <p:nvSpPr>
          <p:cNvPr id="25" name="Text 22"/>
          <p:cNvSpPr/>
          <p:nvPr/>
        </p:nvSpPr>
        <p:spPr>
          <a:xfrm>
            <a:off x="484632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846320" y="30175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reminder rules. Generate PayLinks. Let the system chase debts for you.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543800" y="1508760"/>
            <a:ext cx="594360" cy="594360"/>
          </a:xfrm>
          <a:prstGeom prst="ellipse">
            <a:avLst/>
          </a:prstGeom>
          <a:solidFill>
            <a:srgbClr val="588A10"/>
          </a:solidFill>
          <a:ln/>
        </p:spPr>
      </p:sp>
      <p:sp>
        <p:nvSpPr>
          <p:cNvPr id="28" name="Text 25"/>
          <p:cNvSpPr/>
          <p:nvPr/>
        </p:nvSpPr>
        <p:spPr>
          <a:xfrm>
            <a:off x="754380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903720" y="2423160"/>
            <a:ext cx="1920240" cy="2194560"/>
          </a:xfrm>
          <a:prstGeom prst="rect">
            <a:avLst/>
          </a:prstGeom>
          <a:solidFill>
            <a:srgbClr val="F7F9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903720" y="2423160"/>
            <a:ext cx="1920240" cy="45720"/>
          </a:xfrm>
          <a:prstGeom prst="rect">
            <a:avLst/>
          </a:prstGeom>
          <a:solidFill>
            <a:srgbClr val="588A10"/>
          </a:solidFill>
          <a:ln/>
        </p:spPr>
      </p:sp>
      <p:sp>
        <p:nvSpPr>
          <p:cNvPr id="31" name="Text 28"/>
          <p:cNvSpPr/>
          <p:nvPr/>
        </p:nvSpPr>
        <p:spPr>
          <a:xfrm>
            <a:off x="704088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040880" y="30175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insights to make smarter decisions. Collect faster, sell more, scale up.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8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320040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a Nigerian business needs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463040"/>
            <a:ext cx="411480" cy="411480"/>
          </a:xfrm>
          <a:prstGeom prst="ellipse">
            <a:avLst/>
          </a:prstGeom>
          <a:solidFill>
            <a:srgbClr val="F7F9F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87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Tracking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6868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sales across 5 payment methods with auto-receipts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246120" y="1463040"/>
            <a:ext cx="411480" cy="411480"/>
          </a:xfrm>
          <a:prstGeom prst="ellipse">
            <a:avLst/>
          </a:prstGeom>
          <a:solidFill>
            <a:srgbClr val="F7F9F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5087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4904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Management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74904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outstanding balances with partial payment support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126480" y="1463040"/>
            <a:ext cx="411480" cy="411480"/>
          </a:xfrm>
          <a:prstGeom prst="ellipse">
            <a:avLst/>
          </a:prstGeom>
          <a:solidFill>
            <a:srgbClr val="F7F9F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50876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2940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Reminders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62940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Escalating tone reminders via WhatsApp integration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365760" y="2651760"/>
            <a:ext cx="411480" cy="411480"/>
          </a:xfrm>
          <a:prstGeom prst="ellipse">
            <a:avLst/>
          </a:prstGeom>
          <a:solidFill>
            <a:srgbClr val="F7F9F8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69748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868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Invoicing &amp; Receipts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86868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PDFs with your branding, one-click share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3246120" y="2651760"/>
            <a:ext cx="411480" cy="411480"/>
          </a:xfrm>
          <a:prstGeom prst="ellipse">
            <a:avLst/>
          </a:prstGeom>
          <a:solidFill>
            <a:srgbClr val="F7F9F8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269748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74904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Collection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374904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PayLinks via Paystack let customers pay instantly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6126480" y="2651760"/>
            <a:ext cx="411480" cy="411480"/>
          </a:xfrm>
          <a:prstGeom prst="ellipse">
            <a:avLst/>
          </a:prstGeom>
          <a:solidFill>
            <a:srgbClr val="F7F9F8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697480"/>
            <a:ext cx="320040" cy="32004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62940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Promises to Pay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662940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commitment docs with payment tracking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365760" y="3840480"/>
            <a:ext cx="411480" cy="411480"/>
          </a:xfrm>
          <a:prstGeom prst="ellipse">
            <a:avLst/>
          </a:prstGeom>
          <a:solidFill>
            <a:srgbClr val="F7F9F8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3886200"/>
            <a:ext cx="320040" cy="32004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86868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Payroll</a:t>
            </a:r>
            <a:endParaRPr lang="en-US" sz="1300" dirty="0"/>
          </a:p>
        </p:txBody>
      </p:sp>
      <p:sp>
        <p:nvSpPr>
          <p:cNvPr id="33" name="Text 23"/>
          <p:cNvSpPr/>
          <p:nvPr/>
        </p:nvSpPr>
        <p:spPr>
          <a:xfrm>
            <a:off x="868680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roles, attendance, salary and bonus tracking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3246120" y="3840480"/>
            <a:ext cx="411480" cy="411480"/>
          </a:xfrm>
          <a:prstGeom prst="ellipse">
            <a:avLst/>
          </a:prstGeom>
          <a:solidFill>
            <a:srgbClr val="F7F9F8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1840" y="3886200"/>
            <a:ext cx="320040" cy="32004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74904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Mode</a:t>
            </a:r>
            <a:endParaRPr lang="en-US" sz="1300" dirty="0"/>
          </a:p>
        </p:txBody>
      </p:sp>
      <p:sp>
        <p:nvSpPr>
          <p:cNvPr id="37" name="Text 26"/>
          <p:cNvSpPr/>
          <p:nvPr/>
        </p:nvSpPr>
        <p:spPr>
          <a:xfrm>
            <a:off x="3749040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tracking, tenant management, lease reminders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6126480" y="3840480"/>
            <a:ext cx="411480" cy="411480"/>
          </a:xfrm>
          <a:prstGeom prst="ellipse">
            <a:avLst/>
          </a:prstGeom>
          <a:solidFill>
            <a:srgbClr val="F7F9F8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3886200"/>
            <a:ext cx="320040" cy="32004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62940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Insights</a:t>
            </a:r>
            <a:endParaRPr lang="en-US" sz="1300" dirty="0"/>
          </a:p>
        </p:txBody>
      </p:sp>
      <p:sp>
        <p:nvSpPr>
          <p:cNvPr id="41" name="Text 29"/>
          <p:cNvSpPr/>
          <p:nvPr/>
        </p:nvSpPr>
        <p:spPr>
          <a:xfrm>
            <a:off x="6629400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P&amp;L, collection score, CSV exports, smart suggestions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8BD91E">
              <a:alpha val="1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320040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massive, underserved market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2560320" cy="201168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691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40M+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SMBs in Nigeria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market in Africa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554480"/>
            <a:ext cx="2560320" cy="201168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83280" y="1691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338328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Manual Records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8328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books, spreadsheets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1554480"/>
            <a:ext cx="2560320" cy="201168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09360" y="1691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$4.5B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630936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TAM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0936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tools growing 30% YoY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CashTraka targets the intersection of payment tracking, debt collection, and business intelligence — a white space no Nigerian tool fully owns.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8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320040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Freemium SaaS with clear upgrade path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3840480" cy="3108960"/>
          </a:xfrm>
          <a:prstGeom prst="rect">
            <a:avLst/>
          </a:prstGeom>
          <a:solidFill>
            <a:srgbClr val="F7F9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508760"/>
            <a:ext cx="3840480" cy="502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508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19456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payments/month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active debts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customers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reminders only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dashboard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1508760"/>
            <a:ext cx="3840480" cy="3108960"/>
          </a:xfrm>
          <a:prstGeom prst="rect">
            <a:avLst/>
          </a:prstGeom>
          <a:solidFill>
            <a:srgbClr val="E6F8F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508760"/>
            <a:ext cx="3840480" cy="502920"/>
          </a:xfrm>
          <a:prstGeom prst="rect">
            <a:avLst/>
          </a:prstGeom>
          <a:solidFill>
            <a:srgbClr val="00B8E8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508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PLAN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29200" y="2148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₦3,000 - ₦4,000/mo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(Quarterly / Biannual / Yearly billing)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20640" y="28346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everything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Auto-reminders &amp; PayLinks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Invoicing, receipts, products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management &amp; payroll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score &amp; AI suggestions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CSV exports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D9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320040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WE’VE BUILT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production-ready platform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2560320" cy="1417320"/>
          </a:xfrm>
          <a:prstGeom prst="rect">
            <a:avLst/>
          </a:prstGeom>
          <a:solidFill>
            <a:srgbClr val="F7F9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63040"/>
            <a:ext cx="54864" cy="1417320"/>
          </a:xfrm>
          <a:prstGeom prst="rect">
            <a:avLst/>
          </a:prstGeom>
          <a:solidFill>
            <a:srgbClr val="00B8E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5720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Routes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37560" y="1463040"/>
            <a:ext cx="2560320" cy="1417320"/>
          </a:xfrm>
          <a:prstGeom prst="rect">
            <a:avLst/>
          </a:prstGeom>
          <a:solidFill>
            <a:srgbClr val="F7F9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463040"/>
            <a:ext cx="54864" cy="1417320"/>
          </a:xfrm>
          <a:prstGeom prst="rect">
            <a:avLst/>
          </a:prstGeom>
          <a:solidFill>
            <a:srgbClr val="8BD91E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D9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138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333756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1417320"/>
          </a:xfrm>
          <a:prstGeom prst="rect">
            <a:avLst/>
          </a:prstGeom>
          <a:solidFill>
            <a:srgbClr val="F7F9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1463040"/>
            <a:ext cx="54864" cy="1417320"/>
          </a:xfrm>
          <a:prstGeom prst="rect">
            <a:avLst/>
          </a:prstGeom>
          <a:solidFill>
            <a:srgbClr val="0076A0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621792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Models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154680"/>
            <a:ext cx="2560320" cy="1417320"/>
          </a:xfrm>
          <a:prstGeom prst="rect">
            <a:avLst/>
          </a:prstGeom>
          <a:solidFill>
            <a:srgbClr val="F7F9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154680"/>
            <a:ext cx="54864" cy="1417320"/>
          </a:xfrm>
          <a:prstGeom prst="rect">
            <a:avLst/>
          </a:prstGeom>
          <a:solidFill>
            <a:srgbClr val="588A10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8A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140+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45720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Components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337560" y="3154680"/>
            <a:ext cx="2560320" cy="1417320"/>
          </a:xfrm>
          <a:prstGeom prst="rect">
            <a:avLst/>
          </a:prstGeom>
          <a:solidFill>
            <a:srgbClr val="F7F9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337560" y="3154680"/>
            <a:ext cx="54864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333756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333756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Jobs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217920" y="3154680"/>
            <a:ext cx="2560320" cy="1417320"/>
          </a:xfrm>
          <a:prstGeom prst="rect">
            <a:avLst/>
          </a:prstGeom>
          <a:solidFill>
            <a:srgbClr val="F7F9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3154680"/>
            <a:ext cx="54864" cy="1417320"/>
          </a:xfrm>
          <a:prstGeom prst="rect">
            <a:avLst/>
          </a:prstGeom>
          <a:solidFill>
            <a:srgbClr val="00B8E8"/>
          </a:solidFill>
          <a:ln/>
        </p:spPr>
      </p:sp>
      <p:sp>
        <p:nvSpPr>
          <p:cNvPr id="28" name="Text 25"/>
          <p:cNvSpPr/>
          <p:nvPr/>
        </p:nvSpPr>
        <p:spPr>
          <a:xfrm>
            <a:off x="621792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600" dirty="0"/>
          </a:p>
        </p:txBody>
      </p:sp>
      <p:sp>
        <p:nvSpPr>
          <p:cNvPr id="29" name="Text 26"/>
          <p:cNvSpPr/>
          <p:nvPr/>
        </p:nvSpPr>
        <p:spPr>
          <a:xfrm>
            <a:off x="621792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320040" cy="4023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on modern, scalable infrastructure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3931920" cy="91440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463040"/>
            <a:ext cx="54864" cy="914400"/>
          </a:xfrm>
          <a:prstGeom prst="rect">
            <a:avLst/>
          </a:prstGeom>
          <a:solidFill>
            <a:srgbClr val="00B8E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8470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React framework with server components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931920" cy="91440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1463040"/>
            <a:ext cx="54864" cy="914400"/>
          </a:xfrm>
          <a:prstGeom prst="rect">
            <a:avLst/>
          </a:prstGeom>
          <a:solidFill>
            <a:srgbClr val="8BD91E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83480" y="18470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serverless database with Prisma ORM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606040"/>
            <a:ext cx="3931920" cy="91440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260604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Paystack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5800" y="29900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processing, subscriptions, and auto-debit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2606040"/>
            <a:ext cx="3931920" cy="91440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8" name="Shape 15"/>
          <p:cNvSpPr/>
          <p:nvPr/>
        </p:nvSpPr>
        <p:spPr>
          <a:xfrm>
            <a:off x="4754880" y="2606040"/>
            <a:ext cx="54864" cy="914400"/>
          </a:xfrm>
          <a:prstGeom prst="rect">
            <a:avLst/>
          </a:prstGeom>
          <a:solidFill>
            <a:srgbClr val="00B8E8"/>
          </a:solidFill>
          <a:ln/>
        </p:spPr>
      </p:sp>
      <p:sp>
        <p:nvSpPr>
          <p:cNvPr id="19" name="Text 16"/>
          <p:cNvSpPr/>
          <p:nvPr/>
        </p:nvSpPr>
        <p:spPr>
          <a:xfrm>
            <a:off x="498348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983480" y="29900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edge deployment with auto CI/CD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749040"/>
            <a:ext cx="3931920" cy="91440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" y="3749040"/>
            <a:ext cx="54864" cy="914400"/>
          </a:xfrm>
          <a:prstGeom prst="rect">
            <a:avLst/>
          </a:prstGeom>
          <a:solidFill>
            <a:srgbClr val="8BD91E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TailwindCSS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5800" y="41330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Utility-first CSS for rapid, consistent UI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3749040"/>
            <a:ext cx="3931920" cy="91440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6" name="Shape 23"/>
          <p:cNvSpPr/>
          <p:nvPr/>
        </p:nvSpPr>
        <p:spPr>
          <a:xfrm>
            <a:off x="4754880" y="3749040"/>
            <a:ext cx="54864" cy="914400"/>
          </a:xfrm>
          <a:prstGeom prst="rect">
            <a:avLst/>
          </a:prstGeom>
          <a:solidFill>
            <a:srgbClr val="0076A0"/>
          </a:solidFill>
          <a:ln/>
        </p:spPr>
      </p:sp>
      <p:sp>
        <p:nvSpPr>
          <p:cNvPr id="27" name="Text 24"/>
          <p:cNvSpPr/>
          <p:nvPr/>
        </p:nvSpPr>
        <p:spPr>
          <a:xfrm>
            <a:off x="498348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Resend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983480" y="41330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email for OTP, receipts, digests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8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320040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CASHTRAKA WINS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how Nigerian businesses actually work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920240"/>
                <a:gridCol w="192024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CashTraka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Wave/Cowrywise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Spreadsheets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tracking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Debt collection engine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Auto-reminders (WhatsApp)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PayLinks (online collection)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Promise to Pay documents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behaviour tags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 manager mode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+ payroll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Affordable for Nigerian SMBs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₦3k/mo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₦8k+/mo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B8E8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320040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we’re headed next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20040" y="1508760"/>
            <a:ext cx="1965960" cy="310896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508760"/>
            <a:ext cx="1965960" cy="457200"/>
          </a:xfrm>
          <a:prstGeom prst="rect">
            <a:avLst/>
          </a:prstGeom>
          <a:solidFill>
            <a:srgbClr val="00B8E8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1508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103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&amp; Growth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4688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500 users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Paystack integration live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reminders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14600" y="1508760"/>
            <a:ext cx="1965960" cy="310896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14600" y="1508760"/>
            <a:ext cx="1965960" cy="457200"/>
          </a:xfrm>
          <a:prstGeom prst="rect">
            <a:avLst/>
          </a:prstGeom>
          <a:solidFill>
            <a:srgbClr val="8BD91E"/>
          </a:solidFill>
          <a:ln/>
        </p:spPr>
      </p:sp>
      <p:sp>
        <p:nvSpPr>
          <p:cNvPr id="13" name="Text 10"/>
          <p:cNvSpPr/>
          <p:nvPr/>
        </p:nvSpPr>
        <p:spPr>
          <a:xfrm>
            <a:off x="2514600" y="1508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651760" y="2103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51760" y="24688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USSD channel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(PWA)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statement import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Ghana expansion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09160" y="1508760"/>
            <a:ext cx="1965960" cy="310896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9160" y="1508760"/>
            <a:ext cx="19659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709160" y="1508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46320" y="2103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46320" y="24688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payment prediction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collection scoring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Multi-currency support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for third parties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03720" y="1508760"/>
            <a:ext cx="1965960" cy="310896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903720" y="1508760"/>
            <a:ext cx="1965960" cy="457200"/>
          </a:xfrm>
          <a:prstGeom prst="rect">
            <a:avLst/>
          </a:prstGeom>
          <a:solidFill>
            <a:srgbClr val="0076A0"/>
          </a:solidFill>
          <a:ln/>
        </p:spPr>
      </p:sp>
      <p:sp>
        <p:nvSpPr>
          <p:cNvPr id="23" name="Text 20"/>
          <p:cNvSpPr/>
          <p:nvPr/>
        </p:nvSpPr>
        <p:spPr>
          <a:xfrm>
            <a:off x="6903720" y="1508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040880" y="2103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040880" y="24688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scoring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Lending partnerships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Francophone Africa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8E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8BD91E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274320"/>
            <a:ext cx="109728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Let’s build the operating system</a:t>
            </a:r>
            <a:endParaRPr lang="en-US" sz="2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Nigerian businesses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474720" y="2880360"/>
            <a:ext cx="2194560" cy="36576"/>
          </a:xfrm>
          <a:prstGeom prst="rect">
            <a:avLst/>
          </a:prstGeom>
          <a:solidFill>
            <a:srgbClr val="00B8E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cashtraka.co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s.chukwue@gmail.com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who paid. Know who owes. Collect everything.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CashTraka Pitch Deck</dc:title>
  <dc:subject>PptxGenJS Presentation</dc:subject>
  <dc:creator>CashTraka</dc:creator>
  <cp:lastModifiedBy>CashTraka</cp:lastModifiedBy>
  <cp:revision>1</cp:revision>
  <dcterms:created xsi:type="dcterms:W3CDTF">2026-04-21T18:44:39Z</dcterms:created>
  <dcterms:modified xsi:type="dcterms:W3CDTF">2026-04-21T18:44:39Z</dcterms:modified>
</cp:coreProperties>
</file>